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Úvod: stará koupená aplikace uměla jen zápis ucpávek a stála dost peněz. Tohle je kompletní vlastní řešení postavené na míru naší práci.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Hlavní pointa: stará appka uměla jednu věc. Tohle pokrývá celý proces.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Firemní aplikace pro evidenci požárních ucpávek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188720" cy="54864"/>
          </a:xfrm>
          <a:prstGeom prst="rect">
            <a:avLst/>
          </a:prstGeom>
          <a:solidFill>
            <a:srgbClr val="E0A4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Kompletní přehled funkcí a možností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Podklad k prezentaci  •  Antonín Vojtěšek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VÝCHODISKO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Odkud jdeme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DE7E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C0563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Stará aplikace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koupená, drahá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31546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Pouze zápis ucpávek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víc — žádné fotky, výkresy, fakturace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práce offline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Drahá a nevyhovující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797296" y="3429000"/>
            <a:ext cx="603504" cy="603504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07" y="3585911"/>
            <a:ext cx="289682" cy="28968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93815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7F0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13855" y="2011680"/>
            <a:ext cx="640080" cy="640080"/>
          </a:xfrm>
          <a:prstGeom prst="ellipse">
            <a:avLst/>
          </a:prstGeom>
          <a:solidFill>
            <a:srgbClr val="3FAE6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7810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36815" y="2103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436815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vlastní, na míru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659575" y="31546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Kompletní evidence ucpávek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Fotky, výkresy, materiály, ceny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Plná práce offline na stavbě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Soupisy, fakturace, reporty, přehledy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aplikace dělá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Pět pilířů, které na sebe navazují — od zápisu v terénu po podklady k fakturaci.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62851" cy="40233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4306" y="2377440"/>
            <a:ext cx="914400" cy="91440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050" y="26151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16885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ucpávek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159709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Zápis se všemi detaily, fotkami a materiály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77251" y="1965960"/>
            <a:ext cx="1962851" cy="40233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01477" y="2377440"/>
            <a:ext cx="914400" cy="91440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221" y="26151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4411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014411" y="3520440"/>
            <a:ext cx="16885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Práce offline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060131" y="4251960"/>
            <a:ext cx="159709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Funguje bez signálu, pak se vše samo odešle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114422" y="1965960"/>
            <a:ext cx="1962851" cy="40233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3D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92" y="261518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1582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251582" y="3520440"/>
            <a:ext cx="16885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Výkresy pater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297302" y="4251960"/>
            <a:ext cx="159709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Zakreslení ucpávky do plánu klepnutím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351593" y="1965960"/>
            <a:ext cx="1962851" cy="40233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875819" y="2377440"/>
            <a:ext cx="914400" cy="914400"/>
          </a:xfrm>
          <a:prstGeom prst="ellipse">
            <a:avLst/>
          </a:prstGeom>
          <a:solidFill>
            <a:srgbClr val="5B7C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563" y="261518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88753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488753" y="3520440"/>
            <a:ext cx="16885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Soupisy a fakturace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534473" y="4251960"/>
            <a:ext cx="159709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rozpracováno až po vyfakturováno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588764" y="1965960"/>
            <a:ext cx="1962851" cy="40233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112990" y="2377440"/>
            <a:ext cx="914400" cy="914400"/>
          </a:xfrm>
          <a:prstGeom prst="ellipse">
            <a:avLst/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34" y="2615184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25924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9725924" y="3520440"/>
            <a:ext cx="16885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Přehledy a dohled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9771644" y="4251960"/>
            <a:ext cx="159709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Statistiky, hledání, historie změn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UŽIVATELÉ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 kdo s čím pracuje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Každý vidí jen to, co potřebuje ke své práci.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22144" cy="402336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76272"/>
            <a:ext cx="566928" cy="566928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3236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52928"/>
            <a:ext cx="201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Pracovník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2010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Zapisuje ucpávky v terénu, fotí, zakresluje do výkresu, tvoří vlastní soupisy. Vidí jen své přiřazené stavby.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6544" y="1920240"/>
            <a:ext cx="2522144" cy="402336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2576" y="2176272"/>
            <a:ext cx="566928" cy="566928"/>
          </a:xfrm>
          <a:prstGeom prst="ellipse">
            <a:avLst/>
          </a:prstGeom>
          <a:solidFill>
            <a:srgbClr val="3D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977" y="232367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2576" y="2852928"/>
            <a:ext cx="201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Vedení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92576" y="3200400"/>
            <a:ext cx="2010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Zakládá stavby a patra, přiřazuje pracovníky, kontroluje a schvaluje, spravuje uživatele, exportuje data.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3008" y="1920240"/>
            <a:ext cx="2522144" cy="402336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9040" y="2176272"/>
            <a:ext cx="566928" cy="566928"/>
          </a:xfrm>
          <a:prstGeom prst="ellipse">
            <a:avLst/>
          </a:prstGeom>
          <a:solidFill>
            <a:srgbClr val="5B7C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441" y="232367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9040" y="2852928"/>
            <a:ext cx="201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Účetní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89040" y="3200400"/>
            <a:ext cx="2010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Pracuje se soupisy a podklady k fakturaci, spravuje ceník, tvoří reporty.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29471" y="1920240"/>
            <a:ext cx="2522144" cy="402336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85503" y="2176272"/>
            <a:ext cx="566928" cy="566928"/>
          </a:xfrm>
          <a:prstGeom prst="ellipse">
            <a:avLst/>
          </a:prstGeom>
          <a:solidFill>
            <a:srgbClr val="1E335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905" y="232367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5503" y="2852928"/>
            <a:ext cx="201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85503" y="3200400"/>
            <a:ext cx="2010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Plný přístup vč. koše a obnovy smazaných záznamů, správy všech účtů a záloh.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JÁDRO APLIKACE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ucpávek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každé ucpávky se eviduje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7432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Číslo ucpávky — na patře vždy jedinečné (hlídá duplicity)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Použitý systém (Hilti, Intuseal, Fischer, Protecta…)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 konstrukce (beton, cihla, sádrokarton…)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Umístění (stěna, strop, podlaha, šachta)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Požární odolnost (60 / 90 / 120 minut)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Poznámky — veřejné i interní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Stav: rozpracováno → zkontrolováno → vyfakturováno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58000" y="1600200"/>
            <a:ext cx="4693615" cy="4480560"/>
          </a:xfrm>
          <a:prstGeom prst="roundRect">
            <a:avLst>
              <a:gd name="adj" fmla="val 1633"/>
            </a:avLst>
          </a:prstGeom>
          <a:solidFill>
            <a:srgbClr val="E7F0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78040" y="1920240"/>
            <a:ext cx="640080" cy="64008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2086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10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Prostupy a materiály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69480" y="2697480"/>
            <a:ext cx="3870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ucpávka = více prostupů různého typu. U každého rozměr, počet kusů a materiály.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3520440"/>
            <a:ext cx="38706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Typy: EL.V. • PVC • VZT • PROSTUP • OCEL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Plochy a délky se počítají automaticky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se doplní z ceníku automaticky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269480" y="5212080"/>
            <a:ext cx="3870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D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Změna ceníku nikdy zpětně nerozhodí hotové záznamy — ukládá se i platná verze ceníku.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Fotky a výkresy pater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2357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Fotodokumentace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306324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Libovolný počet fotek ke každé ucpávce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zmenšení — šetří místo i data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Fotí se i offline, odešle se po připojení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Pracovník fotky nemůže mazat (důkaz)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93815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3855" y="2057400"/>
            <a:ext cx="685800" cy="68580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63" y="22357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2535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Výkresy pater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05295" y="306324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Vedení nahraje plán patra (PNG / JPG / PDF)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výkresu jsou vidět značky všech ucpávek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Novou ucpávku založíš klepnutím do místa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Značku lze posunout, výkres přiblížit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KLÍČOVÁ VÝHODA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Práce bez signálu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stavbě často není signál. Aplikace s tím počítá — práce nikdy nečeká na internet.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1E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495387" y="2880360"/>
            <a:ext cx="777240" cy="77724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469" y="308244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84048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Vše hned lokálně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21220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 uloží přímo do zařízení, práce pokračuje i bez sítě.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47974" y="251460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1E3358"/>
          </a:solidFill>
          <a:ln/>
        </p:spPr>
      </p:sp>
      <p:sp>
        <p:nvSpPr>
          <p:cNvPr id="12" name="Shape 9"/>
          <p:cNvSpPr/>
          <p:nvPr/>
        </p:nvSpPr>
        <p:spPr>
          <a:xfrm>
            <a:off x="4303281" y="2880360"/>
            <a:ext cx="777240" cy="77724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63" y="308244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5134" y="384048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odeslání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30854" y="4434840"/>
            <a:ext cx="21220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Jakmile je zařízení online, vše se samo odešle na server.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5868" y="251460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1E3358"/>
          </a:solidFill>
          <a:ln/>
        </p:spPr>
      </p:sp>
      <p:sp>
        <p:nvSpPr>
          <p:cNvPr id="17" name="Shape 13"/>
          <p:cNvSpPr/>
          <p:nvPr/>
        </p:nvSpPr>
        <p:spPr>
          <a:xfrm>
            <a:off x="7111175" y="2880360"/>
            <a:ext cx="777240" cy="77724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57" y="308244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3028" y="384048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Žádná ztráta dat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38748" y="4434840"/>
            <a:ext cx="21220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Když dva upraví totéž, aplikace upozorní a nikdy nic tiše nepřepíše.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63761" y="251460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1E3358"/>
          </a:solidFill>
          <a:ln/>
        </p:spPr>
      </p:sp>
      <p:sp>
        <p:nvSpPr>
          <p:cNvPr id="22" name="Shape 17"/>
          <p:cNvSpPr/>
          <p:nvPr/>
        </p:nvSpPr>
        <p:spPr>
          <a:xfrm>
            <a:off x="9919068" y="2880360"/>
            <a:ext cx="777240" cy="77724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151" y="308244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00921" y="3840480"/>
            <a:ext cx="22135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Opakované pokusy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246641" y="4434840"/>
            <a:ext cx="21220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Odesílání se opakuje automaticky, dokud server vše nepotvrdí.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Soupisy práce a podklady k fakturaci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Soupis je formální seznam odvedené práce, který prochází jasným schvalovacím procesem.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48221" cy="1188720"/>
          </a:xfrm>
          <a:prstGeom prst="roundRect">
            <a:avLst>
              <a:gd name="adj" fmla="val 6154"/>
            </a:avLst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Rozpracováno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953512"/>
            <a:ext cx="1765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Pracovník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70013" y="23774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80909" y="2148840"/>
            <a:ext cx="1948221" cy="1188720"/>
          </a:xfrm>
          <a:prstGeom prst="roundRect">
            <a:avLst>
              <a:gd name="adj" fmla="val 6154"/>
            </a:avLst>
          </a:prstGeom>
          <a:solidFill>
            <a:srgbClr val="3D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637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2349" y="2441448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Odevzdáno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2349" y="2953512"/>
            <a:ext cx="1765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Pracovník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0841" y="23774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121737" y="2148840"/>
            <a:ext cx="1948221" cy="1188720"/>
          </a:xfrm>
          <a:prstGeom prst="roundRect">
            <a:avLst>
              <a:gd name="adj" fmla="val 6154"/>
            </a:avLst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31465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3177" y="2441448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Zkontrolováno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3177" y="2953512"/>
            <a:ext cx="1765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Vedení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1670" y="23774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362566" y="2148840"/>
            <a:ext cx="1948221" cy="1188720"/>
          </a:xfrm>
          <a:prstGeom prst="roundRect">
            <a:avLst>
              <a:gd name="adj" fmla="val 6154"/>
            </a:avLst>
          </a:prstGeom>
          <a:solidFill>
            <a:srgbClr val="5B7C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2294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4006" y="2441448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Připraveno k fakturaci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54006" y="2953512"/>
            <a:ext cx="1765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Vedení → Účetní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92499" y="23774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603395" y="2148840"/>
            <a:ext cx="1948221" cy="1188720"/>
          </a:xfrm>
          <a:prstGeom prst="roundRect">
            <a:avLst>
              <a:gd name="adj" fmla="val 6154"/>
            </a:avLst>
          </a:prstGeom>
          <a:solidFill>
            <a:srgbClr val="C98A2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13123" y="2221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4835" y="2441448"/>
            <a:ext cx="17653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Vyfakturováno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4835" y="2953512"/>
            <a:ext cx="1765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Účetní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886200"/>
            <a:ext cx="34238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4348886"/>
            <a:ext cx="263347" cy="263347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14400" y="484632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naplnění soupisu ze zapsaných ucpávek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83938" y="3886200"/>
            <a:ext cx="34238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58258" y="4206240"/>
            <a:ext cx="548640" cy="54864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905" y="4348886"/>
            <a:ext cx="263347" cy="26334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658258" y="484632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Historie: kdo a kdy stav změnil; vedení může vrátit k opravě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8127797" y="3886200"/>
            <a:ext cx="342381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402117" y="4206240"/>
            <a:ext cx="548640" cy="54864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4348886"/>
            <a:ext cx="263347" cy="263347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402117" y="484632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soupisu do PDF i CSV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CENY A VÝSTUPY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Ceník, reporty a exporty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2357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Ceník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306324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Ceny prostupů na jednom místě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Verzovaný — platnost od/do, historie cen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se při zápisu doplní automaticky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Uloží se i verze ceníku, která platila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93815" y="17373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3855" y="2057400"/>
            <a:ext cx="685800" cy="68580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63" y="22357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2535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Reporty a exporty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05295" y="306324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do PDF i CSV (účetnictví, archiv)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Filtry: stavba, patro, pracovník, období, stav…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Hromadné operace nad více ucpávkami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Každý vidí jen data, na která má právo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 TOMU NAVÍC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Další funkce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381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223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Vyhledávání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Globální hledání napříč stavbami, patry, ucpávkami i pracovníky.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938" y="1691640"/>
            <a:ext cx="342381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8258" y="1965960"/>
            <a:ext cx="566928" cy="566928"/>
          </a:xfrm>
          <a:prstGeom prst="ellipse">
            <a:avLst/>
          </a:prstGeom>
          <a:solidFill>
            <a:srgbClr val="3D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60" y="21133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9778" y="2075688"/>
            <a:ext cx="223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58258" y="26974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 statistik podle role — rozpracované, ke kontrole, výkon.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42381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2117" y="1965960"/>
            <a:ext cx="566928" cy="566928"/>
          </a:xfrm>
          <a:prstGeom prst="ellipse">
            <a:avLst/>
          </a:prstGeom>
          <a:solidFill>
            <a:srgbClr val="5B7C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518" y="21133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33637" y="2075688"/>
            <a:ext cx="223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02117" y="269748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Zprávy mezi uživateli a notifikace u důležitých změn.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2381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97680"/>
            <a:ext cx="566928" cy="566928"/>
          </a:xfrm>
          <a:prstGeom prst="ellipse">
            <a:avLst/>
          </a:prstGeom>
          <a:solidFill>
            <a:srgbClr val="4A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44450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407408"/>
            <a:ext cx="223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Historie změn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Kdo, kdy a co změnil — vč. původní a nové hodnoty.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3938" y="4023360"/>
            <a:ext cx="342381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8258" y="4297680"/>
            <a:ext cx="566928" cy="566928"/>
          </a:xfrm>
          <a:prstGeom prst="ellipse">
            <a:avLst/>
          </a:prstGeom>
          <a:solidFill>
            <a:srgbClr val="C98A2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660" y="444508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89778" y="4407408"/>
            <a:ext cx="223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Koš a obnova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58258" y="50292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 se nemaže natrvalo; admin smazané záznamy obnoví.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27797" y="4023360"/>
            <a:ext cx="342381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2117" y="4297680"/>
            <a:ext cx="566928" cy="566928"/>
          </a:xfrm>
          <a:prstGeom prst="ellipse">
            <a:avLst/>
          </a:prstGeom>
          <a:solidFill>
            <a:srgbClr val="1E335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518" y="444508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33637" y="4407408"/>
            <a:ext cx="223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Bezpečnost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02117" y="50292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Přihlášení PINem, role a oprávnění, automatické zálohy.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DOSTUPNOST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Kde to běží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06040" y="2240280"/>
            <a:ext cx="1005840" cy="1005840"/>
          </a:xfrm>
          <a:prstGeom prst="ellipse">
            <a:avLst/>
          </a:prstGeom>
          <a:solidFill>
            <a:srgbClr val="2E5C8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558" y="25017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4023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Telefony a tablety do terénu — hotová aplikace (APK)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3855" y="178308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79815" y="2240280"/>
            <a:ext cx="1005840" cy="1005840"/>
          </a:xfrm>
          <a:prstGeom prst="ellipse">
            <a:avLst/>
          </a:prstGeom>
          <a:solidFill>
            <a:srgbClr val="3D6FA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334" y="250179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13855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979615" y="4023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Počítače v kanceláři — hotová verze pro Windows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jsou na společném serveru — všichni pracují nad stejnými aktuálními údaji.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SHRNUTÍ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Stará aplikace vs. UNIFAST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110460" cy="457200"/>
          </a:xfrm>
          <a:prstGeom prst="rect">
            <a:avLst/>
          </a:prstGeom>
          <a:solidFill>
            <a:srgbClr val="16243F"/>
          </a:solidFill>
          <a:ln/>
        </p:spPr>
      </p:sp>
      <p:sp>
        <p:nvSpPr>
          <p:cNvPr id="5" name="Shape 3"/>
          <p:cNvSpPr/>
          <p:nvPr/>
        </p:nvSpPr>
        <p:spPr>
          <a:xfrm>
            <a:off x="6750540" y="1600200"/>
            <a:ext cx="2400538" cy="457200"/>
          </a:xfrm>
          <a:prstGeom prst="rect">
            <a:avLst/>
          </a:prstGeom>
          <a:solidFill>
            <a:srgbClr val="16243F"/>
          </a:solidFill>
          <a:ln/>
        </p:spPr>
      </p:sp>
      <p:sp>
        <p:nvSpPr>
          <p:cNvPr id="6" name="Shape 4"/>
          <p:cNvSpPr/>
          <p:nvPr/>
        </p:nvSpPr>
        <p:spPr>
          <a:xfrm>
            <a:off x="9151077" y="1600200"/>
            <a:ext cx="2400538" cy="457200"/>
          </a:xfrm>
          <a:prstGeom prst="rect">
            <a:avLst/>
          </a:prstGeom>
          <a:solidFill>
            <a:srgbClr val="C98A2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5836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50540" y="1600200"/>
            <a:ext cx="2400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Stará appka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51077" y="1600200"/>
            <a:ext cx="2400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10911535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Zápis ucpávek</a:t>
            </a:r>
            <a:endParaRPr lang="en-US" sz="12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937" y="2135124"/>
            <a:ext cx="237744" cy="237744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474" y="2135124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2450592"/>
            <a:ext cx="10911535" cy="393192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450592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Fotodokumentace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937" y="2528316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474" y="2528316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0080" y="2843784"/>
            <a:ext cx="10911535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3"/>
          <p:cNvSpPr/>
          <p:nvPr/>
        </p:nvSpPr>
        <p:spPr>
          <a:xfrm>
            <a:off x="822960" y="2843784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Výkresy pater a zakreslení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937" y="2921508"/>
            <a:ext cx="237744" cy="23774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474" y="292150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40080" y="3236976"/>
            <a:ext cx="10911535" cy="393192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23" name="Text 15"/>
          <p:cNvSpPr/>
          <p:nvPr/>
        </p:nvSpPr>
        <p:spPr>
          <a:xfrm>
            <a:off x="822960" y="3236976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Práce offline bez signálu</a:t>
            </a:r>
            <a:endParaRPr lang="en-US" sz="12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1937" y="3314700"/>
            <a:ext cx="237744" cy="237744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2474" y="3314700"/>
            <a:ext cx="237744" cy="237744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640080" y="3630168"/>
            <a:ext cx="10911535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17"/>
          <p:cNvSpPr/>
          <p:nvPr/>
        </p:nvSpPr>
        <p:spPr>
          <a:xfrm>
            <a:off x="822960" y="3630168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Materiály a automatické ceny</a:t>
            </a:r>
            <a:endParaRPr lang="en-US" sz="12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937" y="3707892"/>
            <a:ext cx="237744" cy="237744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2474" y="3707892"/>
            <a:ext cx="237744" cy="237744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640080" y="4023360"/>
            <a:ext cx="10911535" cy="393192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31" name="Text 19"/>
          <p:cNvSpPr/>
          <p:nvPr/>
        </p:nvSpPr>
        <p:spPr>
          <a:xfrm>
            <a:off x="822960" y="4023360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Soupisy práce a fakturace</a:t>
            </a:r>
            <a:endParaRPr lang="en-US" sz="125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31937" y="4101084"/>
            <a:ext cx="237744" cy="237744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2474" y="4101084"/>
            <a:ext cx="237744" cy="237744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640080" y="4416552"/>
            <a:ext cx="10911535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1"/>
          <p:cNvSpPr/>
          <p:nvPr/>
        </p:nvSpPr>
        <p:spPr>
          <a:xfrm>
            <a:off x="822960" y="4416552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Reporty a exporty (PDF/CSV)</a:t>
            </a:r>
            <a:endParaRPr lang="en-US" sz="125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1937" y="4494276"/>
            <a:ext cx="237744" cy="237744"/>
          </a:xfrm>
          <a:prstGeom prst="rect">
            <a:avLst/>
          </a:prstGeom>
        </p:spPr>
      </p:pic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32474" y="4494276"/>
            <a:ext cx="237744" cy="237744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640080" y="4809744"/>
            <a:ext cx="10911535" cy="393192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39" name="Text 23"/>
          <p:cNvSpPr/>
          <p:nvPr/>
        </p:nvSpPr>
        <p:spPr>
          <a:xfrm>
            <a:off x="822960" y="4809744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oprávnění, historie změn</a:t>
            </a:r>
            <a:endParaRPr lang="en-US" sz="125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31937" y="4887468"/>
            <a:ext cx="237744" cy="237744"/>
          </a:xfrm>
          <a:prstGeom prst="rect">
            <a:avLst/>
          </a:prstGeom>
        </p:spPr>
      </p:pic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32474" y="4887468"/>
            <a:ext cx="237744" cy="237744"/>
          </a:xfrm>
          <a:prstGeom prst="rect">
            <a:avLst/>
          </a:prstGeom>
        </p:spPr>
      </p:pic>
      <p:sp>
        <p:nvSpPr>
          <p:cNvPr id="42" name="Shape 24"/>
          <p:cNvSpPr/>
          <p:nvPr/>
        </p:nvSpPr>
        <p:spPr>
          <a:xfrm>
            <a:off x="640080" y="5202936"/>
            <a:ext cx="10911535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25"/>
          <p:cNvSpPr/>
          <p:nvPr/>
        </p:nvSpPr>
        <p:spPr>
          <a:xfrm>
            <a:off x="822960" y="5202936"/>
            <a:ext cx="58361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Koš, obnova, statistiky, hledání</a:t>
            </a:r>
            <a:endParaRPr lang="en-US" sz="125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31937" y="5280660"/>
            <a:ext cx="237744" cy="237744"/>
          </a:xfrm>
          <a:prstGeom prst="rect">
            <a:avLst/>
          </a:prstGeom>
        </p:spPr>
      </p:pic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32474" y="5280660"/>
            <a:ext cx="237744" cy="237744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UNIFAST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3291840" cy="329184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ZÁVĚR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Aktuální stav a co dál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E335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240280"/>
            <a:ext cx="640080" cy="640080"/>
          </a:xfrm>
          <a:prstGeom prst="ellipse">
            <a:avLst/>
          </a:prstGeom>
          <a:solidFill>
            <a:srgbClr val="3FAE6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4067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 dnes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31546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Aplikace je hotová a funkční — běží a používá 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Hotové verze pro Android i Windows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Otestováno (automatické testy)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93815" y="192024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E3358"/>
          </a:solidFill>
          <a:ln/>
        </p:spPr>
      </p:sp>
      <p:sp>
        <p:nvSpPr>
          <p:cNvPr id="12" name="Shape 9"/>
          <p:cNvSpPr/>
          <p:nvPr/>
        </p:nvSpPr>
        <p:spPr>
          <a:xfrm>
            <a:off x="6613855" y="2240280"/>
            <a:ext cx="640080" cy="640080"/>
          </a:xfrm>
          <a:prstGeom prst="ellipse">
            <a:avLst/>
          </a:prstGeom>
          <a:solidFill>
            <a:srgbClr val="E0A43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24067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36815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Možnosti dalšího rozvoje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705295" y="31546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Nasazení na firemní/cloudový server (HTTPS)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Podpis aplikací pro snadnou distribuci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Doplnění funkcí podle přání firmy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Postaveno na míru reálné práci s ucpávkami — bez přizpůsobování se cizí aplikaci.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UNIFAST — přehled funkcí</dc:title>
  <dc:subject>PptxGenJS Presentation</dc:subject>
  <dc:creator>Antonín Vojtěšek</dc:creator>
  <cp:lastModifiedBy>Antonín Vojtěšek</cp:lastModifiedBy>
  <cp:revision>1</cp:revision>
  <dcterms:created xsi:type="dcterms:W3CDTF">2026-06-16T18:26:41Z</dcterms:created>
  <dcterms:modified xsi:type="dcterms:W3CDTF">2026-06-16T18:26:41Z</dcterms:modified>
</cp:coreProperties>
</file>